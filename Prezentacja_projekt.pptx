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832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21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76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PROJEKT  -  WIZJA KOMPUTEROWA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Detekcja i klasyfikacja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5000"/>
              </a:lnSpc>
              <a:buNone/>
            </a:pPr>
            <a:r>
              <a:rPr lang="en-US" sz="4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znak</a:t>
            </a:r>
            <a:r>
              <a:rPr lang="pl-PL" sz="4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ó</a:t>
            </a: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 drogowych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CD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Klasyczny potok wizji komputerowej:  maska koloru + HOG + SVM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1406652" cy="640080"/>
          </a:xfrm>
          <a:prstGeom prst="roundRect">
            <a:avLst>
              <a:gd name="adj" fmla="val 11429"/>
            </a:avLst>
          </a:prstGeom>
          <a:solidFill>
            <a:srgbClr val="1E2330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4160520"/>
            <a:ext cx="1296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Zdjecie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65020" y="416052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85644" y="4160520"/>
            <a:ext cx="1406652" cy="640080"/>
          </a:xfrm>
          <a:prstGeom prst="roundRect">
            <a:avLst>
              <a:gd name="adj" fmla="val 11429"/>
            </a:avLst>
          </a:prstGeom>
          <a:solidFill>
            <a:srgbClr val="1E2330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0508" y="4160520"/>
            <a:ext cx="1296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02024" y="416052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22648" y="4160520"/>
            <a:ext cx="1406652" cy="640080"/>
          </a:xfrm>
          <a:prstGeom prst="roundRect">
            <a:avLst>
              <a:gd name="adj" fmla="val 11429"/>
            </a:avLst>
          </a:prstGeom>
          <a:solidFill>
            <a:srgbClr val="1E2330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77512" y="4160520"/>
            <a:ext cx="1296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64x64 szarosc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39028" y="416052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59652" y="4160520"/>
            <a:ext cx="1406652" cy="640080"/>
          </a:xfrm>
          <a:prstGeom prst="roundRect">
            <a:avLst>
              <a:gd name="adj" fmla="val 11429"/>
            </a:avLst>
          </a:prstGeom>
          <a:solidFill>
            <a:srgbClr val="1E2330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4516" y="4160520"/>
            <a:ext cx="1296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HOG (1764)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76032" y="416052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96656" y="4160520"/>
            <a:ext cx="1406652" cy="640080"/>
          </a:xfrm>
          <a:prstGeom prst="roundRect">
            <a:avLst>
              <a:gd name="adj" fmla="val 11429"/>
            </a:avLst>
          </a:prstGeom>
          <a:solidFill>
            <a:srgbClr val="1E2330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51520" y="4160520"/>
            <a:ext cx="1296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SVM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13036" y="416052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233660" y="4160520"/>
            <a:ext cx="1406652" cy="640080"/>
          </a:xfrm>
          <a:prstGeom prst="roundRect">
            <a:avLst>
              <a:gd name="adj" fmla="val 11429"/>
            </a:avLst>
          </a:prstGeom>
          <a:solidFill>
            <a:srgbClr val="1E2330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88524" y="4160520"/>
            <a:ext cx="1296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Klasa + %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5212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Maciej Pere</a:t>
            </a:r>
            <a:r>
              <a:rPr lang="pl-PL" sz="160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</a:t>
            </a:r>
            <a:r>
              <a:rPr lang="en-US" sz="160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lucha</a:t>
            </a:r>
            <a:r>
              <a:rPr lang="en-US" sz="160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177139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Mateusz Pokrywka  177143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i zakres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1500" y="1253744"/>
            <a:ext cx="4937760" cy="4890008"/>
          </a:xfrm>
          <a:prstGeom prst="roundRect">
            <a:avLst>
              <a:gd name="adj" fmla="val 1538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63040"/>
            <a:ext cx="4297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wykrywa znak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zdj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ę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ciu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(detekcja) i przypisuje go do jednej z 5 klas (klasyfikacja).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dirty="0" err="1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Podej</a:t>
            </a:r>
            <a:r>
              <a:rPr lang="pl-PL" sz="16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ś</a:t>
            </a:r>
            <a:r>
              <a:rPr lang="en-US" sz="1600" b="1" dirty="0" err="1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Wy</a:t>
            </a:r>
            <a:r>
              <a:rPr lang="pl-PL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łą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cznie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klasyczne metody przetwarzania obrazu + klasyfikator SVM (bez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sieci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pl-PL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łę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bokich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Zakres: 2 osoby -&gt; 5 klas, bez p</a:t>
            </a:r>
            <a:r>
              <a:rPr lang="pl-PL" sz="1200" i="1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en-US" sz="1200" i="1" dirty="0" err="1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rownania</a:t>
            </a:r>
            <a:r>
              <a:rPr lang="en-US" sz="1200" i="1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 YOLO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06440" y="7965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rozpoznawanych klas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852160" y="1783080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0" y="1938528"/>
            <a:ext cx="402336" cy="402336"/>
          </a:xfrm>
          <a:prstGeom prst="ellipse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8308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STOP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52160" y="2624328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2779776"/>
            <a:ext cx="402336" cy="402336"/>
          </a:xfrm>
          <a:prstGeom prst="ellipse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2432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Ustap</a:t>
            </a: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pierwsze</a:t>
            </a:r>
            <a:r>
              <a:rPr lang="pl-PL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ń</a:t>
            </a:r>
            <a:r>
              <a:rPr lang="en-US" sz="15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stwa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52160" y="3465576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3621024"/>
            <a:ext cx="402336" cy="402336"/>
          </a:xfrm>
          <a:prstGeom prst="ellipse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46557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Zakaz wjazdu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52160" y="4306824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4462272"/>
            <a:ext cx="402336" cy="402336"/>
          </a:xfrm>
          <a:prstGeom prst="ellipse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30682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Droga z </a:t>
            </a:r>
            <a:r>
              <a:rPr lang="en-US" sz="15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pierwsze</a:t>
            </a:r>
            <a:r>
              <a:rPr lang="pl-PL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ń</a:t>
            </a:r>
            <a:r>
              <a:rPr lang="en-US" sz="15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stwem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52160" y="5148072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5303520"/>
            <a:ext cx="402336" cy="402336"/>
          </a:xfrm>
          <a:prstGeom prst="ellipse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5148072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Ograniczenie 30 km/h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Obraz 24">
            <a:extLst>
              <a:ext uri="{FF2B5EF4-FFF2-40B4-BE49-F238E27FC236}">
                <a16:creationId xmlns:a16="http://schemas.microsoft.com/office/drawing/2014/main" id="{E94A578C-A4A5-49BF-AFB4-65F5F4EA3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815" y="3611880"/>
            <a:ext cx="1559568" cy="2339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Baza danych: GTSRB + balansowanie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754880" cy="4754880"/>
          </a:xfrm>
          <a:prstGeom prst="roundRect">
            <a:avLst>
              <a:gd name="adj" fmla="val 1538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63040"/>
            <a:ext cx="41148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GTSRB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German Traffic Sign Recognition Benchmark -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ponad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l-PL" sz="1400" dirty="0">
              <a:solidFill>
                <a:srgbClr val="1F24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50 000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zdj</a:t>
            </a:r>
            <a:r>
              <a:rPr lang="pl-PL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ęć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 43 klasach.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Wybralismy 5 klas.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Liczebno</a:t>
            </a:r>
            <a:r>
              <a:rPr lang="pl-PL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ść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nierowna (od 780 do 2220),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ę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zbi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b="1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zbalansowalismy: z ka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ż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dej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klasy losowo po 780 zdjec.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Podzial 80% / 20% (trening / test).</a:t>
            </a:r>
            <a:endParaRPr lang="pl-PL" sz="1300" i="1" dirty="0">
              <a:solidFill>
                <a:srgbClr val="6B72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sz="1300" i="1" dirty="0">
              <a:solidFill>
                <a:srgbClr val="6B72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665143"/>
              </p:ext>
            </p:extLst>
          </p:nvPr>
        </p:nvGraphicFramePr>
        <p:xfrm>
          <a:off x="5669280" y="1417320"/>
          <a:ext cx="5943600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Klasa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Pierwotnie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Po zbalansowaniu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Ograniczenie 30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2220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780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Droga z pierwszenstwem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2100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780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Ustap pierwszenstwa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2160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780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Zakaz wjazdu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1110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780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STOP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780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780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l-PL" sz="1300" b="1" dirty="0" err="1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Łą</a:t>
                      </a:r>
                      <a:r>
                        <a:rPr lang="en-US" sz="1300" b="1" dirty="0" err="1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cznie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8370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3900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38E85CBB-3BEB-4207-A81D-E639A4539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893066"/>
            <a:ext cx="4339167" cy="1867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Baza danych: </a:t>
            </a:r>
            <a:r>
              <a:rPr lang="pl-PL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porównanie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12520" y="1275588"/>
            <a:ext cx="9928013" cy="4754880"/>
          </a:xfrm>
          <a:prstGeom prst="roundRect">
            <a:avLst>
              <a:gd name="adj" fmla="val 1538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63040"/>
            <a:ext cx="41148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pl-PL" sz="1300" i="1" dirty="0">
              <a:solidFill>
                <a:srgbClr val="6B72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C2DF8A9D-0AB5-42AE-9DC4-67917953A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89" y="1435608"/>
            <a:ext cx="9534222" cy="432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742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Architektura systemu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Od surowego zdjecia do decyzji klasyfikatora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7591" y="1444414"/>
            <a:ext cx="1466158" cy="465667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7097" y="1444414"/>
            <a:ext cx="135178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Zdj</a:t>
            </a:r>
            <a:r>
              <a:rPr lang="pl-PL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15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cie</a:t>
            </a: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5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wej</a:t>
            </a:r>
            <a:r>
              <a:rPr lang="pl-PL" sz="115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śc</a:t>
            </a:r>
            <a:r>
              <a:rPr lang="en-US" sz="115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iowe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70325" y="1444414"/>
            <a:ext cx="32404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44595" y="1444414"/>
            <a:ext cx="1466158" cy="465667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04101" y="1444414"/>
            <a:ext cx="135178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Maska HSV + morfologia + kontur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07329" y="1444414"/>
            <a:ext cx="32404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1599" y="1444414"/>
            <a:ext cx="1466158" cy="465667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41105" y="1444414"/>
            <a:ext cx="135178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Wyciecie ROI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4333" y="1444414"/>
            <a:ext cx="32404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18603" y="1444414"/>
            <a:ext cx="1466158" cy="465667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78109" y="1444414"/>
            <a:ext cx="135178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64x64 + </a:t>
            </a:r>
            <a:r>
              <a:rPr lang="en-US" sz="115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skala</a:t>
            </a: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5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szaro</a:t>
            </a:r>
            <a:r>
              <a:rPr lang="pl-PL" sz="115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śc</a:t>
            </a:r>
            <a:r>
              <a:rPr lang="en-US" sz="115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81337" y="1444414"/>
            <a:ext cx="32404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55607" y="1444414"/>
            <a:ext cx="1466158" cy="465667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15113" y="1444414"/>
            <a:ext cx="135178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HOG - wektor 1764 cech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18341" y="1444414"/>
            <a:ext cx="32404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192611" y="1444414"/>
            <a:ext cx="1466158" cy="465667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52117" y="1444414"/>
            <a:ext cx="135178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SVM -&gt; klasa + %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9120" y="4639732"/>
            <a:ext cx="5486400" cy="1463887"/>
          </a:xfrm>
          <a:prstGeom prst="roundRect">
            <a:avLst>
              <a:gd name="adj" fmla="val 3478"/>
            </a:avLst>
          </a:prstGeom>
          <a:solidFill>
            <a:srgbClr val="FBEDEE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2222" y="473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 -  "gdzie jest znak?"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2222" y="4754033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Maska koloru (czerwony / zolty) lokalizuje kandydatow.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Morfologia czysci maske, kontury wyznaczaja ksztalt.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Filtry geometryczne odrzucaja tlo. Wynik: wyciety znak (ROI).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68380" y="4639731"/>
            <a:ext cx="5253059" cy="1485901"/>
          </a:xfrm>
          <a:prstGeom prst="roundRect">
            <a:avLst>
              <a:gd name="adj" fmla="val 3478"/>
            </a:avLst>
          </a:prstGeom>
          <a:solidFill>
            <a:srgbClr val="EAF0FA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78109" y="477096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F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KLASYFIKACJA  -  "jaki to znak?"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42020" y="4856479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ROI -&gt; 64x64 -&gt; skala szarosci -&gt; deskryptor HOG.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Wektor 1764 cech trafia do liniowego SVM.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Wynik: jedna z 5 klas wraz z pewnoscia w %.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Obraz 30">
            <a:extLst>
              <a:ext uri="{FF2B5EF4-FFF2-40B4-BE49-F238E27FC236}">
                <a16:creationId xmlns:a16="http://schemas.microsoft.com/office/drawing/2014/main" id="{F7F75A18-BFAA-4F2A-80A1-69A8EB1C9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92" y="2098440"/>
            <a:ext cx="1466158" cy="1418148"/>
          </a:xfrm>
          <a:prstGeom prst="rect">
            <a:avLst/>
          </a:prstGeom>
        </p:spPr>
      </p:pic>
      <p:pic>
        <p:nvPicPr>
          <p:cNvPr id="33" name="Obraz 32">
            <a:extLst>
              <a:ext uri="{FF2B5EF4-FFF2-40B4-BE49-F238E27FC236}">
                <a16:creationId xmlns:a16="http://schemas.microsoft.com/office/drawing/2014/main" id="{F615B0B0-7230-464D-83EB-510BEB8DA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169" y="2136184"/>
            <a:ext cx="838503" cy="829947"/>
          </a:xfrm>
          <a:prstGeom prst="rect">
            <a:avLst/>
          </a:prstGeom>
        </p:spPr>
      </p:pic>
      <p:pic>
        <p:nvPicPr>
          <p:cNvPr id="35" name="Obraz 34">
            <a:extLst>
              <a:ext uri="{FF2B5EF4-FFF2-40B4-BE49-F238E27FC236}">
                <a16:creationId xmlns:a16="http://schemas.microsoft.com/office/drawing/2014/main" id="{039EAAA1-1E66-4E91-A684-6CA4DF6BE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342" y="2121683"/>
            <a:ext cx="838503" cy="847147"/>
          </a:xfrm>
          <a:prstGeom prst="rect">
            <a:avLst/>
          </a:prstGeom>
        </p:spPr>
      </p:pic>
      <p:pic>
        <p:nvPicPr>
          <p:cNvPr id="39" name="Obraz 38">
            <a:extLst>
              <a:ext uri="{FF2B5EF4-FFF2-40B4-BE49-F238E27FC236}">
                <a16:creationId xmlns:a16="http://schemas.microsoft.com/office/drawing/2014/main" id="{B20F53CF-9A03-4986-89E6-35912352ED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736" y="2109190"/>
            <a:ext cx="1466021" cy="1425195"/>
          </a:xfrm>
          <a:prstGeom prst="rect">
            <a:avLst/>
          </a:prstGeom>
        </p:spPr>
      </p:pic>
      <p:pic>
        <p:nvPicPr>
          <p:cNvPr id="41" name="Obraz 40">
            <a:extLst>
              <a:ext uri="{FF2B5EF4-FFF2-40B4-BE49-F238E27FC236}">
                <a16:creationId xmlns:a16="http://schemas.microsoft.com/office/drawing/2014/main" id="{82F46AF5-B13C-4FDE-A427-1E62B8CE1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6535" y="3083503"/>
            <a:ext cx="850310" cy="840187"/>
          </a:xfrm>
          <a:prstGeom prst="rect">
            <a:avLst/>
          </a:prstGeom>
        </p:spPr>
      </p:pic>
      <p:pic>
        <p:nvPicPr>
          <p:cNvPr id="43" name="Obraz 42">
            <a:extLst>
              <a:ext uri="{FF2B5EF4-FFF2-40B4-BE49-F238E27FC236}">
                <a16:creationId xmlns:a16="http://schemas.microsoft.com/office/drawing/2014/main" id="{7DE20D38-F677-45B5-B347-8B92E22933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1169" y="3096680"/>
            <a:ext cx="838503" cy="823258"/>
          </a:xfrm>
          <a:prstGeom prst="rect">
            <a:avLst/>
          </a:prstGeom>
        </p:spPr>
      </p:pic>
      <p:pic>
        <p:nvPicPr>
          <p:cNvPr id="45" name="Obraz 44">
            <a:extLst>
              <a:ext uri="{FF2B5EF4-FFF2-40B4-BE49-F238E27FC236}">
                <a16:creationId xmlns:a16="http://schemas.microsoft.com/office/drawing/2014/main" id="{AA270FE5-F200-441A-AE1E-C38561F14E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9470" y="3129116"/>
            <a:ext cx="960702" cy="955887"/>
          </a:xfrm>
          <a:prstGeom prst="rect">
            <a:avLst/>
          </a:prstGeom>
        </p:spPr>
      </p:pic>
      <p:pic>
        <p:nvPicPr>
          <p:cNvPr id="51" name="Obraz 50">
            <a:extLst>
              <a:ext uri="{FF2B5EF4-FFF2-40B4-BE49-F238E27FC236}">
                <a16:creationId xmlns:a16="http://schemas.microsoft.com/office/drawing/2014/main" id="{2B74D515-8B6D-41A9-9F33-66902BEB83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5607" y="2109189"/>
            <a:ext cx="1466158" cy="1444329"/>
          </a:xfrm>
          <a:prstGeom prst="rect">
            <a:avLst/>
          </a:prstGeom>
        </p:spPr>
      </p:pic>
      <p:pic>
        <p:nvPicPr>
          <p:cNvPr id="53" name="Obraz 52">
            <a:extLst>
              <a:ext uri="{FF2B5EF4-FFF2-40B4-BE49-F238E27FC236}">
                <a16:creationId xmlns:a16="http://schemas.microsoft.com/office/drawing/2014/main" id="{F916F425-7C46-47BA-9877-F73073BD19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1801" y="2033446"/>
            <a:ext cx="979881" cy="972305"/>
          </a:xfrm>
          <a:prstGeom prst="rect">
            <a:avLst/>
          </a:prstGeom>
        </p:spPr>
      </p:pic>
      <p:pic>
        <p:nvPicPr>
          <p:cNvPr id="55" name="Obraz 54">
            <a:extLst>
              <a:ext uri="{FF2B5EF4-FFF2-40B4-BE49-F238E27FC236}">
                <a16:creationId xmlns:a16="http://schemas.microsoft.com/office/drawing/2014/main" id="{DE0C05C2-6883-4648-A0BF-8C77B1F3A1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1682" y="2033446"/>
            <a:ext cx="960702" cy="955453"/>
          </a:xfrm>
          <a:prstGeom prst="rect">
            <a:avLst/>
          </a:prstGeom>
        </p:spPr>
      </p:pic>
      <p:pic>
        <p:nvPicPr>
          <p:cNvPr id="57" name="Obraz 56">
            <a:extLst>
              <a:ext uri="{FF2B5EF4-FFF2-40B4-BE49-F238E27FC236}">
                <a16:creationId xmlns:a16="http://schemas.microsoft.com/office/drawing/2014/main" id="{FCCE8B15-45FD-4C84-942E-C2079832EC6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04070" y="2121683"/>
            <a:ext cx="1443239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Krok 1-2: rozmycie Gaussa </a:t>
            </a:r>
            <a:r>
              <a:rPr lang="en-US" sz="28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</a:t>
            </a: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przestrze</a:t>
            </a:r>
            <a:r>
              <a:rPr lang="pl-PL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ń</a:t>
            </a: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HSV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43000" y="132588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Filtr Gaussa 5x5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203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Rozmywa obraz i usuwa drobny szum,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dzi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 czemu maska koloru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</a:t>
            </a:r>
            <a:r>
              <a:rPr lang="pl-PL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óź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niejszy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HOG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nie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reaguj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na przypadkowe, fa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szywe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kraw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dzie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55080" y="1371600"/>
            <a:ext cx="457200" cy="457200"/>
          </a:xfrm>
          <a:prstGeom prst="ellipse">
            <a:avLst/>
          </a:prstGeom>
          <a:solidFill>
            <a:srgbClr val="1C3F7C"/>
          </a:solidFill>
          <a:ln w="12700">
            <a:solidFill>
              <a:srgbClr val="1C3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949440" y="132588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804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Konwersja BGR -&gt; HSV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78040" y="1874520"/>
            <a:ext cx="185589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HSV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rozdziela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odcie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ń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(H) od jasnosci (V). Dzieki temu progowanie koloru jest stabilne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przy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</a:t>
            </a:r>
            <a:r>
              <a:rPr lang="pl-PL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óż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nym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o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wietleniu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- kluczowe na zdjeciach z drogi.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Dlaczego HSV, a nie RGB?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4140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 (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odcie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ń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- koduje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kolor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niezale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ż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nie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od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jasno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  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  ten sam czerwony znak w s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ń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 i w cieniu ma podobne H.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 (nasycenie) - odsiewa szare,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wyblak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obszary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 (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jasno</a:t>
            </a:r>
            <a:r>
              <a:rPr lang="pl-PL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ść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- pozwala odrzucic bardzo ciemne piksele.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Obraz 19">
            <a:extLst>
              <a:ext uri="{FF2B5EF4-FFF2-40B4-BE49-F238E27FC236}">
                <a16:creationId xmlns:a16="http://schemas.microsoft.com/office/drawing/2014/main" id="{6463463C-4106-4998-B0F3-DC676A322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760" y="1828800"/>
            <a:ext cx="1141146" cy="1118093"/>
          </a:xfrm>
          <a:prstGeom prst="rect">
            <a:avLst/>
          </a:prstGeom>
        </p:spPr>
      </p:pic>
      <p:pic>
        <p:nvPicPr>
          <p:cNvPr id="22" name="Obraz 21">
            <a:extLst>
              <a:ext uri="{FF2B5EF4-FFF2-40B4-BE49-F238E27FC236}">
                <a16:creationId xmlns:a16="http://schemas.microsoft.com/office/drawing/2014/main" id="{7EC7F67E-C976-4667-AEFE-A21E87BD5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134" y="1828800"/>
            <a:ext cx="1141146" cy="1123768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EDC2C23C-1BDA-4ADC-8002-3C4A17FC5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8599" y="1874520"/>
            <a:ext cx="1144028" cy="1118093"/>
          </a:xfrm>
          <a:prstGeom prst="rect">
            <a:avLst/>
          </a:prstGeom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B46823E8-6509-4E92-9EA0-6B9551863F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079" y="1874520"/>
            <a:ext cx="1135201" cy="11293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Krok 3: maska koloru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Czerwien w HSV "zawija sie" wok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 0 stopni, dlatego sprawdzamy dwa osobne zakresy. Ko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ń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cowa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maska =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czerwie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ń 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LUB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czerwie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ń 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lub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pl-PL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żół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286863"/>
              </p:ext>
            </p:extLst>
          </p:nvPr>
        </p:nvGraphicFramePr>
        <p:xfrm>
          <a:off x="579120" y="1659636"/>
          <a:ext cx="7315200" cy="22677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Maska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 (0-180)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 (0-255)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 (0-255)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 err="1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Czerwie</a:t>
                      </a:r>
                      <a:r>
                        <a:rPr lang="pl-PL" sz="1300" b="1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ń</a:t>
                      </a: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1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0 - 10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30 - 255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40 - 255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 err="1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Czerwie</a:t>
                      </a:r>
                      <a:r>
                        <a:rPr lang="pl-PL" sz="1300" b="1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ń</a:t>
                      </a: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2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160 - 180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30 - 255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40 - 255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l-PL" sz="1300" b="1" dirty="0" err="1">
                          <a:solidFill>
                            <a:srgbClr val="E0A8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Żół</a:t>
                      </a:r>
                      <a:r>
                        <a:rPr lang="en-US" sz="1300" b="1" dirty="0">
                          <a:solidFill>
                            <a:srgbClr val="E0A8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20 - 35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100 - 255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100 - 255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663023"/>
            <a:ext cx="3474720" cy="2267712"/>
          </a:xfrm>
          <a:prstGeom prst="roundRect">
            <a:avLst>
              <a:gd name="adj" fmla="val 3226"/>
            </a:avLst>
          </a:prstGeom>
          <a:solidFill>
            <a:srgbClr val="FBEDEE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5" name="Text 4"/>
          <p:cNvSpPr/>
          <p:nvPr/>
        </p:nvSpPr>
        <p:spPr>
          <a:xfrm>
            <a:off x="8366760" y="1845903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Progi w treningu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 od 30/40 - na GTSRB t</a:t>
            </a:r>
            <a:r>
              <a:rPr lang="pl-PL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prawie nie istnieje.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Progi w detekcji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 podniesione do 70/50 - </a:t>
            </a:r>
            <a:r>
              <a:rPr lang="en-US" sz="13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mniej</a:t>
            </a: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</a:t>
            </a:r>
            <a:r>
              <a:rPr lang="pl-PL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3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szywych</a:t>
            </a: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obsza</a:t>
            </a:r>
            <a:r>
              <a:rPr lang="pl-PL" sz="13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ró</a:t>
            </a: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sz="13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</a:t>
            </a:r>
            <a:r>
              <a:rPr lang="pl-PL" sz="13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óż</a:t>
            </a:r>
            <a:r>
              <a:rPr lang="en-US" sz="13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nicowanym</a:t>
            </a: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pl-PL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drogi.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F25EC8A1-1898-453D-81EE-797047D17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665" y="4087643"/>
            <a:ext cx="5074921" cy="593809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1287FF53-2BA9-4310-B090-E7F2C69AF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213" y="4168871"/>
            <a:ext cx="2995507" cy="2277649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9EF20BC0-FD18-4E07-B113-9DF21EFAA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011" y="4767605"/>
            <a:ext cx="1474965" cy="1457141"/>
          </a:xfrm>
          <a:prstGeom prst="rect">
            <a:avLst/>
          </a:prstGeom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F717D300-16F7-4DE1-88BC-59BD9F48F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0683" y="4767605"/>
            <a:ext cx="1474965" cy="14674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Krok 4: morfologia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Operacje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morfologiczne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czyszcz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binarn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mask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przed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szukaniem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kontur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1783080"/>
          </a:xfrm>
          <a:prstGeom prst="roundRect">
            <a:avLst>
              <a:gd name="adj" fmla="val 1818"/>
            </a:avLst>
          </a:prstGeom>
          <a:solidFill>
            <a:srgbClr val="FBEDEE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Otwarcie  (jadro 3x3)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Erozja</a:t>
            </a:r>
            <a:r>
              <a:rPr lang="en-US" sz="13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a </a:t>
            </a:r>
            <a:r>
              <a:rPr lang="en-US" sz="1300" i="1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potem</a:t>
            </a:r>
            <a:r>
              <a:rPr lang="en-US" sz="13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i="1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dylatacja</a:t>
            </a:r>
            <a:r>
              <a:rPr lang="en-US" sz="13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Usuwa drobny szum i pojedyncze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piksele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- ma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e, przypadkowe plamki znikaja, a du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ż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 obiekt (znak) zostaje.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03520" cy="1783080"/>
          </a:xfrm>
          <a:prstGeom prst="roundRect">
            <a:avLst>
              <a:gd name="adj" fmla="val 1818"/>
            </a:avLst>
          </a:prstGeom>
          <a:solidFill>
            <a:srgbClr val="EAF0FA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F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Zamkniecie  (jadro 7x7)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Dylatacja, a potem erozja.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4754880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Wype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nia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dziury i luki wewnatrz wykrytego obszaru - maska znaku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staje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jna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pe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AC223362-FAEF-4162-8193-869397324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691" y="3672840"/>
            <a:ext cx="2546909" cy="2439831"/>
          </a:xfrm>
          <a:prstGeom prst="rect">
            <a:avLst/>
          </a:prstGeom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0A17188B-5040-4784-9474-3C77D5853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657599"/>
            <a:ext cx="2499574" cy="24550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Krok 5: kontury i filtry geometryczne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2569464"/>
          </a:xfrm>
          <a:prstGeom prst="roundRect">
            <a:avLst>
              <a:gd name="adj" fmla="val 1633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25261"/>
            <a:ext cx="4572000" cy="2166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Kontury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oczyszczonej masce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szukamy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obrys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obiekt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 Zak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adamy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ż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najwiekszy kontur to nasz znak.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 co filtry?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Ż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eby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odrzuci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ć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szywe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detekcje - drzewa, budynki, pojazdy,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fragmenty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o podobnym kolorze.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5669280" cy="1225296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02680" y="1411393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Aspect ratio  =  </a:t>
            </a:r>
            <a:r>
              <a:rPr lang="en-US" sz="16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szeroko</a:t>
            </a:r>
            <a:r>
              <a:rPr lang="pl-PL" sz="16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ść</a:t>
            </a:r>
            <a:r>
              <a:rPr lang="en-US" sz="16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</a:t>
            </a:r>
            <a:r>
              <a:rPr lang="en-US" sz="16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wysoko</a:t>
            </a:r>
            <a:r>
              <a:rPr lang="pl-PL" sz="16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ść</a:t>
            </a:r>
            <a:r>
              <a:rPr lang="en-US" sz="16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~ 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02680" y="1823550"/>
            <a:ext cx="5120640" cy="560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Znaki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zbli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ż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do kwadratu (ko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o, tr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jkat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osmiok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 w ramce), wiec proporcje sa bliskie 1.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0" y="2715768"/>
            <a:ext cx="5684520" cy="1225296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02680" y="2780453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Solidity  =  pole konturu / pole otoczki  ~ 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02680" y="3179064"/>
            <a:ext cx="5120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Kszta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 znaku jest zwarty i regularny.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Obiekty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postrz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pione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(li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cie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ga</a:t>
            </a:r>
            <a:r>
              <a:rPr lang="pl-PL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łę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zie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maj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nisk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solidity </a:t>
            </a:r>
            <a:r>
              <a:rPr lang="en-US" sz="13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</a:t>
            </a:r>
            <a:r>
              <a:rPr lang="pl-PL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3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odrzucane.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7B6DC3CF-5A6F-456D-93E9-0E972EC57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53" y="4074160"/>
            <a:ext cx="8787453" cy="2056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Krok 6: wyciecie ROI i normalizacja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375154" cy="548640"/>
          </a:xfrm>
          <a:prstGeom prst="roundRect">
            <a:avLst>
              <a:gd name="adj" fmla="val 6154"/>
            </a:avLst>
          </a:prstGeom>
          <a:solidFill>
            <a:srgbClr val="EAF0FA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097280"/>
            <a:ext cx="2265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Wybrany kontur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33522" y="10972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54146" y="1097280"/>
            <a:ext cx="2375154" cy="548640"/>
          </a:xfrm>
          <a:prstGeom prst="roundRect">
            <a:avLst>
              <a:gd name="adj" fmla="val 6154"/>
            </a:avLst>
          </a:prstGeom>
          <a:solidFill>
            <a:srgbClr val="EAF0FA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9010" y="1097280"/>
            <a:ext cx="2265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Wyciecie ROI (+5% marginesu)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39028" y="10972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59652" y="1097280"/>
            <a:ext cx="2375154" cy="548640"/>
          </a:xfrm>
          <a:prstGeom prst="roundRect">
            <a:avLst>
              <a:gd name="adj" fmla="val 6154"/>
            </a:avLst>
          </a:prstGeom>
          <a:solidFill>
            <a:srgbClr val="EAF0FA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4516" y="1097280"/>
            <a:ext cx="2265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Skalowanie do 64x64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44534" y="10972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265158" y="1097280"/>
            <a:ext cx="2375154" cy="548640"/>
          </a:xfrm>
          <a:prstGeom prst="roundRect">
            <a:avLst>
              <a:gd name="adj" fmla="val 6154"/>
            </a:avLst>
          </a:prstGeom>
          <a:solidFill>
            <a:srgbClr val="EAF0FA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0022" y="1097280"/>
            <a:ext cx="2265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Konwersja do skali szarosci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5460" y="2086525"/>
            <a:ext cx="11064240" cy="1247987"/>
          </a:xfrm>
          <a:prstGeom prst="roundRect">
            <a:avLst>
              <a:gd name="adj" fmla="val 3810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5500" y="2269405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 (Region of Interest)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oryginalnego obrazu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wycinamy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prostok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ą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wok</a:t>
            </a:r>
            <a:r>
              <a:rPr lang="pl-PL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ół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znaku z marginesem 5%, 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ż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eby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nie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obci</a:t>
            </a:r>
            <a:r>
              <a:rPr lang="pl-PL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ąć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kraw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ę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dzi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Je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ś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 nie znaleziono konturu - ROI jest ca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ym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obrazem.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rozmiar 64x64 jest konieczny, bo SVM wymaga wektora cech o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ugosci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Skala szarosci wystarcza - HOG koduje ksztalt, nie kolor.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Obraz 19">
            <a:extLst>
              <a:ext uri="{FF2B5EF4-FFF2-40B4-BE49-F238E27FC236}">
                <a16:creationId xmlns:a16="http://schemas.microsoft.com/office/drawing/2014/main" id="{B4970FAF-C0EC-4D42-B0AD-ECA5559EB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3609821"/>
            <a:ext cx="4427099" cy="2296213"/>
          </a:xfrm>
          <a:prstGeom prst="rect">
            <a:avLst/>
          </a:prstGeom>
        </p:spPr>
      </p:pic>
      <p:pic>
        <p:nvPicPr>
          <p:cNvPr id="22" name="Obraz 21">
            <a:extLst>
              <a:ext uri="{FF2B5EF4-FFF2-40B4-BE49-F238E27FC236}">
                <a16:creationId xmlns:a16="http://schemas.microsoft.com/office/drawing/2014/main" id="{71D632C6-EC74-4345-AE2B-FF7BCB0B5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173" y="3575566"/>
            <a:ext cx="3188897" cy="23815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Krok 7: deskryptor HOG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HOG (Histogram of Oriented Gradients) zamienia obraz na wektor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liczb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opisuj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rozk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kraw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dzi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-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czyli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kszta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 znaku.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15184" cy="1280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457200" cy="256032"/>
          </a:xfrm>
          <a:prstGeom prst="ellipse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82437" y="2024481"/>
            <a:ext cx="228600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Gradienty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366467"/>
            <a:ext cx="22860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Dla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ka</a:t>
            </a:r>
            <a:r>
              <a:rPr lang="pl-PL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ż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dego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piksela 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liczymy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</a:t>
            </a:r>
            <a:r>
              <a:rPr lang="pl-PL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łę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i 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kierunek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kraw</a:t>
            </a:r>
            <a:r>
              <a:rPr lang="pl-PL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dzi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46704" y="1828800"/>
            <a:ext cx="2615184" cy="1280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9584" y="2011680"/>
            <a:ext cx="457200" cy="256032"/>
          </a:xfrm>
          <a:prstGeom prst="ellipse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2011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64829" y="2043547"/>
            <a:ext cx="228600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Histogramy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29584" y="2366467"/>
            <a:ext cx="22860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Kom</a:t>
            </a:r>
            <a:r>
              <a:rPr lang="pl-PL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rki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8x8 px, w ka</a:t>
            </a:r>
            <a:r>
              <a:rPr lang="pl-PL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ż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dej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histogram 9 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kierunk</a:t>
            </a:r>
            <a:r>
              <a:rPr lang="pl-PL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44768" y="1828800"/>
            <a:ext cx="2615184" cy="1280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2011680"/>
            <a:ext cx="457200" cy="256032"/>
          </a:xfrm>
          <a:prstGeom prst="ellipse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011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068312" y="2043547"/>
            <a:ext cx="228600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Normalizacja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27648" y="2366467"/>
            <a:ext cx="22860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Bloki 2x2 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kom</a:t>
            </a:r>
            <a:r>
              <a:rPr lang="pl-PL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rek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normalizowane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5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metod</a:t>
            </a:r>
            <a:r>
              <a:rPr lang="pl-PL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L2-Hys.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42832" y="1828800"/>
            <a:ext cx="2615184" cy="1280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25712" y="2011680"/>
            <a:ext cx="457200" cy="256032"/>
          </a:xfrm>
          <a:prstGeom prst="ellipse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2011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65792" y="2043547"/>
            <a:ext cx="228600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Wektor cech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25712" y="2366467"/>
            <a:ext cx="22860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Sklejenie wszystkiego w wektor 1764 liczb.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86228" y="3292484"/>
            <a:ext cx="7117080" cy="503699"/>
          </a:xfrm>
          <a:prstGeom prst="roundRect">
            <a:avLst>
              <a:gd name="adj" fmla="val 5714"/>
            </a:avLst>
          </a:prstGeom>
          <a:solidFill>
            <a:srgbClr val="FBEDEE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09841" y="3365889"/>
            <a:ext cx="6869853" cy="35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Wymiar wektora:   </a:t>
            </a:r>
            <a:r>
              <a:rPr lang="en-US" sz="15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x 7 </a:t>
            </a:r>
            <a:r>
              <a:rPr lang="en-US" sz="15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blok</a:t>
            </a:r>
            <a:r>
              <a:rPr lang="pl-PL" sz="15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5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  x  (2x2 </a:t>
            </a:r>
            <a:r>
              <a:rPr lang="en-US" sz="15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kom</a:t>
            </a:r>
            <a:r>
              <a:rPr lang="pl-PL" sz="15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5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rki</a:t>
            </a:r>
            <a:r>
              <a:rPr lang="en-US" sz="15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x 9 orientacji)  =  49 x 36  =  </a:t>
            </a:r>
            <a:r>
              <a:rPr lang="en-US" sz="15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1764 cechy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Obraz 29">
            <a:extLst>
              <a:ext uri="{FF2B5EF4-FFF2-40B4-BE49-F238E27FC236}">
                <a16:creationId xmlns:a16="http://schemas.microsoft.com/office/drawing/2014/main" id="{2E06CB3C-F61E-45E1-AD3A-70FFCE47E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60" y="4164604"/>
            <a:ext cx="2021482" cy="2130979"/>
          </a:xfrm>
          <a:prstGeom prst="rect">
            <a:avLst/>
          </a:prstGeom>
        </p:spPr>
      </p:pic>
      <p:pic>
        <p:nvPicPr>
          <p:cNvPr id="32" name="Obraz 31">
            <a:extLst>
              <a:ext uri="{FF2B5EF4-FFF2-40B4-BE49-F238E27FC236}">
                <a16:creationId xmlns:a16="http://schemas.microsoft.com/office/drawing/2014/main" id="{0F718351-0973-4CA5-98EA-7671077CB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315" y="4216162"/>
            <a:ext cx="3887025" cy="522767"/>
          </a:xfrm>
          <a:prstGeom prst="rect">
            <a:avLst/>
          </a:prstGeom>
        </p:spPr>
      </p:pic>
      <p:pic>
        <p:nvPicPr>
          <p:cNvPr id="34" name="Obraz 33">
            <a:extLst>
              <a:ext uri="{FF2B5EF4-FFF2-40B4-BE49-F238E27FC236}">
                <a16:creationId xmlns:a16="http://schemas.microsoft.com/office/drawing/2014/main" id="{FEC454F9-3990-4DBB-8D39-FF8D516C6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5890" y="4708474"/>
            <a:ext cx="3063877" cy="492125"/>
          </a:xfrm>
          <a:prstGeom prst="rect">
            <a:avLst/>
          </a:prstGeom>
        </p:spPr>
      </p:pic>
      <p:pic>
        <p:nvPicPr>
          <p:cNvPr id="36" name="Obraz 35">
            <a:extLst>
              <a:ext uri="{FF2B5EF4-FFF2-40B4-BE49-F238E27FC236}">
                <a16:creationId xmlns:a16="http://schemas.microsoft.com/office/drawing/2014/main" id="{AC7DD8CC-C54B-43D4-A41E-35399A92A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3695" y="5271745"/>
            <a:ext cx="2431896" cy="1275359"/>
          </a:xfrm>
          <a:prstGeom prst="rect">
            <a:avLst/>
          </a:prstGeom>
        </p:spPr>
      </p:pic>
      <p:pic>
        <p:nvPicPr>
          <p:cNvPr id="38" name="Obraz 37">
            <a:extLst>
              <a:ext uri="{FF2B5EF4-FFF2-40B4-BE49-F238E27FC236}">
                <a16:creationId xmlns:a16="http://schemas.microsoft.com/office/drawing/2014/main" id="{39107532-DF71-4329-8159-BB9E817A3F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5451" y="3870129"/>
            <a:ext cx="4161294" cy="27509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Klasyfikator SVM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257800" cy="2006570"/>
          </a:xfrm>
          <a:prstGeom prst="roundRect">
            <a:avLst>
              <a:gd name="adj" fmla="val 1633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szuka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hiperp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aszczyzny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kt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 najlepiej (z najszerszym marginesem) oddziela klasy w przestrzeni 1764 cech.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Wieloklasowo (5 klas)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Strategia jeden-na-jeden: dla kazdej pary klas osobny klasyfikator (10 dla 5 klas), a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wynik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wy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osowanie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486400" cy="359709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59" y="1463040"/>
            <a:ext cx="3026979" cy="35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418320" y="1463040"/>
            <a:ext cx="2081048" cy="35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liniowe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0" y="2209266"/>
            <a:ext cx="5486400" cy="359709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59" y="2209266"/>
            <a:ext cx="3026979" cy="35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Parametr 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418320" y="2209266"/>
            <a:ext cx="2081048" cy="35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09360" y="2980455"/>
            <a:ext cx="5486400" cy="359709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59" y="2980455"/>
            <a:ext cx="3026979" cy="35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 pewnosci (detekcja)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18320" y="2980455"/>
            <a:ext cx="2081048" cy="35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0.70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Obraz 20">
            <a:extLst>
              <a:ext uri="{FF2B5EF4-FFF2-40B4-BE49-F238E27FC236}">
                <a16:creationId xmlns:a16="http://schemas.microsoft.com/office/drawing/2014/main" id="{4B01AB72-AE11-49E7-878C-6C4B4BABA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621" y="3606770"/>
            <a:ext cx="2744358" cy="2850875"/>
          </a:xfrm>
          <a:prstGeom prst="rect">
            <a:avLst/>
          </a:prstGeom>
        </p:spPr>
      </p:pic>
      <p:pic>
        <p:nvPicPr>
          <p:cNvPr id="23" name="Obraz 22">
            <a:extLst>
              <a:ext uri="{FF2B5EF4-FFF2-40B4-BE49-F238E27FC236}">
                <a16:creationId xmlns:a16="http://schemas.microsoft.com/office/drawing/2014/main" id="{878CB6B8-3C70-4C9D-9B6A-5AC7998EE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888" y="3774506"/>
            <a:ext cx="3241343" cy="25322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Eksperymenty: dob</a:t>
            </a:r>
            <a:r>
              <a:rPr lang="pl-PL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ó</a:t>
            </a: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 </a:t>
            </a:r>
            <a:r>
              <a:rPr lang="en-US" sz="28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parametr</a:t>
            </a:r>
            <a:r>
              <a:rPr lang="pl-PL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ó</a:t>
            </a: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20440" cy="4541520"/>
          </a:xfrm>
          <a:prstGeom prst="roundRect">
            <a:avLst>
              <a:gd name="adj" fmla="val 2078"/>
            </a:avLst>
          </a:prstGeom>
          <a:solidFill>
            <a:srgbClr val="EAF0FA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  <p:txBody>
          <a:bodyPr/>
          <a:lstStyle/>
          <a:p>
            <a:endParaRPr lang="pl-PL" dirty="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F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Balansowanie zbioru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1089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endParaRPr lang="pl-PL" sz="1300" dirty="0">
              <a:solidFill>
                <a:srgbClr val="6B72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pl-PL" sz="13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300" dirty="0" err="1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iezbalansowany</a:t>
            </a:r>
            <a:r>
              <a:rPr lang="pl-PL" sz="13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l-PL" sz="2400" b="1" dirty="0">
              <a:solidFill>
                <a:srgbClr val="6B72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89,84%</a:t>
            </a:r>
            <a:endParaRPr lang="pl-PL" sz="1300" dirty="0">
              <a:solidFill>
                <a:srgbClr val="1C3F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endParaRPr lang="pl-PL" sz="1300" dirty="0">
              <a:solidFill>
                <a:srgbClr val="1C3F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pl-PL" sz="1300" dirty="0">
                <a:solidFill>
                  <a:srgbClr val="1C3F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300" dirty="0" err="1">
                <a:solidFill>
                  <a:srgbClr val="1C3F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balansowany</a:t>
            </a:r>
            <a:r>
              <a:rPr lang="pl-PL" sz="1300" dirty="0">
                <a:solidFill>
                  <a:srgbClr val="1C3F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l-PL" sz="3400" b="1" dirty="0">
              <a:solidFill>
                <a:srgbClr val="1C3F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1C3F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90,77%</a:t>
            </a:r>
            <a:endParaRPr lang="pl-PL" sz="2400" b="1" dirty="0">
              <a:solidFill>
                <a:srgbClr val="1C3F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endParaRPr lang="pl-PL" sz="2400" b="1" dirty="0">
              <a:solidFill>
                <a:srgbClr val="1C3F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endParaRPr lang="pl-PL" sz="2400" b="1" dirty="0">
              <a:solidFill>
                <a:srgbClr val="1C3F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endParaRPr lang="pl-PL" sz="2400" b="1" dirty="0">
              <a:solidFill>
                <a:srgbClr val="1C3F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endParaRPr lang="pl-PL" sz="2400" b="1" dirty="0">
              <a:solidFill>
                <a:srgbClr val="1C3F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00"/>
              </a:lnSpc>
            </a:pP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RBF </a:t>
            </a:r>
            <a:r>
              <a:rPr lang="en-US" sz="1100" i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wygrywa</a:t>
            </a: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i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</a:t>
            </a: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GTSRB, ale do </a:t>
            </a:r>
            <a:r>
              <a:rPr lang="en-US" sz="1100" i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detekcji</a:t>
            </a: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i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wybrali</a:t>
            </a:r>
            <a:r>
              <a:rPr lang="pl-PL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</a:t>
            </a: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 j</a:t>
            </a:r>
            <a:r>
              <a:rPr lang="pl-PL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100" i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</a:t>
            </a: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i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liniowe</a:t>
            </a: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HOG: </a:t>
            </a:r>
            <a:r>
              <a:rPr lang="en-US" sz="1100" i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konfiguracja</a:t>
            </a: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8x8 / 9 / 2x2 (1764 </a:t>
            </a:r>
            <a:r>
              <a:rPr lang="en-US" sz="1100" i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cechy</a:t>
            </a: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to </a:t>
            </a:r>
            <a:r>
              <a:rPr lang="en-US" sz="1100" i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dobry</a:t>
            </a: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i="1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kompromis</a:t>
            </a:r>
            <a:r>
              <a:rPr lang="en-US" sz="1100" i="1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51960" y="1325880"/>
            <a:ext cx="7360920" cy="2488953"/>
          </a:xfrm>
          <a:prstGeom prst="roundRect">
            <a:avLst>
              <a:gd name="adj" fmla="val 1633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481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</a:t>
            </a:r>
            <a:r>
              <a:rPr lang="pl-PL" sz="15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500" b="1" dirty="0" err="1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</a:t>
            </a:r>
            <a:r>
              <a:rPr lang="en-US" sz="15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SVM i parametr C   (</a:t>
            </a:r>
            <a:r>
              <a:rPr lang="en-US" sz="1500" b="1" dirty="0" err="1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trafno</a:t>
            </a:r>
            <a:r>
              <a:rPr lang="pl-PL" sz="1500" b="1" dirty="0" err="1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ść</a:t>
            </a:r>
            <a:r>
              <a:rPr lang="en-US" sz="15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na GTSRB)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093415"/>
              </p:ext>
            </p:extLst>
          </p:nvPr>
        </p:nvGraphicFramePr>
        <p:xfrm>
          <a:off x="4526279" y="1920240"/>
          <a:ext cx="6962988" cy="1669625"/>
        </p:xfrm>
        <a:graphic>
          <a:graphicData uri="http://schemas.openxmlformats.org/drawingml/2006/table">
            <a:tbl>
              <a:tblPr/>
              <a:tblGrid>
                <a:gridCol w="2430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9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pl-PL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ą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dro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Skalowanie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9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RBF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nie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95,52%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9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RBF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tak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94,56%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9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liniowe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0,1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nie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92,83%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9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liniowe (finalne)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nie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89,84%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96FCEB08-3CAD-42BD-8E0D-DEA1C530A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933" y="3887985"/>
            <a:ext cx="5162973" cy="23406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Kluczowy eksperyment: ROI vs bez ROI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Czy klasyfikator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powinien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uczy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ć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wyci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tym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ROI, czy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ca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ym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obrazie? Wynik jest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pouczaj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67476"/>
            <a:ext cx="5486400" cy="1288068"/>
          </a:xfrm>
          <a:prstGeom prst="roundRect">
            <a:avLst>
              <a:gd name="adj" fmla="val 2667"/>
            </a:avLst>
          </a:prstGeom>
          <a:solidFill>
            <a:srgbClr val="EAF6EE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5767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Uczenie Z ROI   (finalne)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057399"/>
            <a:ext cx="4937760" cy="8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GTSRB:  </a:t>
            </a: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~9</a:t>
            </a:r>
            <a:r>
              <a:rPr lang="pl-PL" sz="1500" b="1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Detekcja na realnych zdjeciach:  </a:t>
            </a:r>
            <a:r>
              <a:rPr lang="en-US" sz="2600" b="1" dirty="0">
                <a:solidFill>
                  <a:srgbClr val="2E7D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72%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1263904"/>
          </a:xfrm>
          <a:prstGeom prst="roundRect">
            <a:avLst>
              <a:gd name="adj" fmla="val 2667"/>
            </a:avLst>
          </a:prstGeom>
          <a:solidFill>
            <a:srgbClr val="F6EEEE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57679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Uczenie BEZ ROI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0" y="2057399"/>
            <a:ext cx="4754880" cy="81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GTSRB:  </a:t>
            </a:r>
            <a:r>
              <a:rPr lang="en-US" sz="1500" b="1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~100%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Detekcja na realnych zdjeciach:  </a:t>
            </a:r>
            <a:r>
              <a:rPr lang="en-US" sz="2600" b="1" dirty="0">
                <a:solidFill>
                  <a:srgbClr val="D726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64%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048228"/>
            <a:ext cx="11064240" cy="640081"/>
          </a:xfrm>
          <a:prstGeom prst="roundRect">
            <a:avLst>
              <a:gd name="adj" fmla="val 5714"/>
            </a:avLst>
          </a:prstGeom>
          <a:solidFill>
            <a:srgbClr val="12151C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  <p:txBody>
          <a:bodyPr/>
          <a:lstStyle/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3048229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Wniosek: 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</a:t>
            </a:r>
            <a:r>
              <a:rPr lang="pl-PL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ż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szy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wynik na GTSRB nie oznacza lepszego systemu. Trening i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musz</a:t>
            </a:r>
            <a:r>
              <a:rPr lang="pl-PL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stosowa</a:t>
            </a:r>
            <a:r>
              <a:rPr lang="pl-PL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ć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ten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preprocessing.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9E989C97-2345-4C6E-B6D0-88F414C91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21" y="3763484"/>
            <a:ext cx="5594488" cy="2492956"/>
          </a:xfrm>
          <a:prstGeom prst="rect">
            <a:avLst/>
          </a:prstGeom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E1500777-1E5F-4379-8879-E3EB763B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705" y="3860880"/>
            <a:ext cx="2837830" cy="2593908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FCAF97DC-FF56-418D-A3EE-4824CC16C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531" y="3780992"/>
            <a:ext cx="2837830" cy="25798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Skuteczno</a:t>
            </a:r>
            <a:r>
              <a:rPr lang="pl-PL" sz="2800" b="1" dirty="0" err="1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ść</a:t>
            </a: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ca</a:t>
            </a:r>
            <a:r>
              <a:rPr lang="pl-PL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ł</a:t>
            </a:r>
            <a:r>
              <a:rPr lang="en-US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ego systemu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finalnego systemu na 25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zdj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ciach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z prawdziwych drog (po 5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klas</a:t>
            </a:r>
            <a:r>
              <a:rPr lang="pl-PL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926080" cy="2194560"/>
          </a:xfrm>
          <a:prstGeom prst="roundRect">
            <a:avLst>
              <a:gd name="adj" fmla="val 3333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C3F7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80%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wykrytych znakow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 / 25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0" y="1737360"/>
            <a:ext cx="2926080" cy="2194560"/>
          </a:xfrm>
          <a:prstGeom prst="roundRect">
            <a:avLst>
              <a:gd name="adj" fmla="val 3333"/>
            </a:avLst>
          </a:prstGeom>
          <a:solidFill>
            <a:srgbClr val="F2F3F6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965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E7D4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72%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4904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poprawna detekcja + klasa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18 / 25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6035040" cy="21945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blurRad="76200" dist="25400" dir="5400000" algn="bl" rotWithShape="0">
              <a:srgbClr val="9AA0A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59" y="4251960"/>
            <a:ext cx="53386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 </a:t>
            </a:r>
            <a:r>
              <a:rPr lang="en-US" sz="1600" b="1" dirty="0" err="1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dzia</a:t>
            </a:r>
            <a:r>
              <a:rPr lang="pl-PL" sz="1600" b="1" dirty="0" err="1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łał</a:t>
            </a: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o, a co nie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79" y="4709160"/>
            <a:ext cx="5338689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Najlepiej: Zakaz wjazdu (5/5) oraz STOP.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Najwi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cej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pomy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ek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ominięć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Ograniczenie 30.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d: roznica dziedzin -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znaki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GTSRB vs znaki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zdj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ciach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(in</a:t>
            </a:r>
            <a:r>
              <a:rPr lang="pl-PL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ny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k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t, 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ś</a:t>
            </a:r>
            <a:r>
              <a:rPr lang="en-US" sz="1400" dirty="0" err="1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wiat</a:t>
            </a:r>
            <a:r>
              <a:rPr lang="pl-PL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400" dirty="0">
                <a:solidFill>
                  <a:srgbClr val="1F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5358E7D5-CEFA-4B49-86FA-B116178B5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37360"/>
            <a:ext cx="5005924" cy="44980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>
                <a:solidFill>
                  <a:srgbClr val="1F24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Prezentacja rezultatów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 i klasyfikacja znakow drogowych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5358E7D5-CEFA-4B49-86FA-B116178B5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291" y="821337"/>
            <a:ext cx="3422630" cy="3075407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2BF76CE2-1FCD-437C-990A-74B8541CA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13" y="2435834"/>
            <a:ext cx="2613557" cy="1609851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AAB052BA-CE25-4807-B0F0-ECA442535F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411" y="886161"/>
            <a:ext cx="4393918" cy="3131349"/>
          </a:xfrm>
          <a:prstGeom prst="rect">
            <a:avLst/>
          </a:prstGeom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BC897F1B-B111-456C-B686-DBBC18332E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32" y="3974887"/>
            <a:ext cx="3219386" cy="2244021"/>
          </a:xfrm>
          <a:prstGeom prst="rect">
            <a:avLst/>
          </a:prstGeom>
        </p:spPr>
      </p:pic>
      <p:pic>
        <p:nvPicPr>
          <p:cNvPr id="28" name="Obraz 27">
            <a:extLst>
              <a:ext uri="{FF2B5EF4-FFF2-40B4-BE49-F238E27FC236}">
                <a16:creationId xmlns:a16="http://schemas.microsoft.com/office/drawing/2014/main" id="{EB4B4DBF-54D6-40B2-9D07-A5A2B4B6AB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13" y="814688"/>
            <a:ext cx="2663198" cy="1583902"/>
          </a:xfrm>
          <a:prstGeom prst="rect">
            <a:avLst/>
          </a:prstGeom>
        </p:spPr>
      </p:pic>
      <p:pic>
        <p:nvPicPr>
          <p:cNvPr id="30" name="Obraz 29">
            <a:extLst>
              <a:ext uri="{FF2B5EF4-FFF2-40B4-BE49-F238E27FC236}">
                <a16:creationId xmlns:a16="http://schemas.microsoft.com/office/drawing/2014/main" id="{389CC2C9-EF30-4832-B9B0-CD58F78188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4744" y="4003735"/>
            <a:ext cx="2133600" cy="2245394"/>
          </a:xfrm>
          <a:prstGeom prst="rect">
            <a:avLst/>
          </a:prstGeom>
        </p:spPr>
      </p:pic>
      <p:pic>
        <p:nvPicPr>
          <p:cNvPr id="32" name="Obraz 31">
            <a:extLst>
              <a:ext uri="{FF2B5EF4-FFF2-40B4-BE49-F238E27FC236}">
                <a16:creationId xmlns:a16="http://schemas.microsoft.com/office/drawing/2014/main" id="{D4F99906-9F52-4275-9F68-D84D55DF0F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8670" y="4010550"/>
            <a:ext cx="3196706" cy="2257754"/>
          </a:xfrm>
          <a:prstGeom prst="rect">
            <a:avLst/>
          </a:prstGeom>
        </p:spPr>
      </p:pic>
      <p:pic>
        <p:nvPicPr>
          <p:cNvPr id="34" name="Obraz 33">
            <a:extLst>
              <a:ext uri="{FF2B5EF4-FFF2-40B4-BE49-F238E27FC236}">
                <a16:creationId xmlns:a16="http://schemas.microsoft.com/office/drawing/2014/main" id="{0B46A016-7EAA-4F02-8744-C7A91336D2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0402" y="4044136"/>
            <a:ext cx="2783731" cy="217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Wnioski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1060704"/>
          </a:xfrm>
          <a:prstGeom prst="roundRect">
            <a:avLst>
              <a:gd name="adj" fmla="val 5172"/>
            </a:avLst>
          </a:prstGeom>
          <a:solidFill>
            <a:srgbClr val="1B1F29"/>
          </a:solidFill>
          <a:ln w="12700">
            <a:solidFill>
              <a:srgbClr val="2A2F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457200" cy="457200"/>
          </a:xfrm>
          <a:prstGeom prst="ellipse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1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4356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 </a:t>
            </a:r>
            <a:r>
              <a:rPr lang="en-US" sz="1600" b="1" dirty="0" err="1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dzia</a:t>
            </a:r>
            <a:r>
              <a:rPr lang="pl-PL" sz="16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600" b="1" dirty="0">
                <a:solidFill>
                  <a:srgbClr val="D7263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06240" y="1417320"/>
            <a:ext cx="7223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Klasyczny potok (maska HSV + morfologia + kontury + ROI) z HOG i SVM.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Oko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 90% na GTSRB i 72% na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prawdziwych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zdj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ę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ciach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64240" cy="1060704"/>
          </a:xfrm>
          <a:prstGeom prst="roundRect">
            <a:avLst>
              <a:gd name="adj" fmla="val 5172"/>
            </a:avLst>
          </a:prstGeom>
          <a:solidFill>
            <a:srgbClr val="1B1F29"/>
          </a:solidFill>
          <a:ln w="12700">
            <a:solidFill>
              <a:srgbClr val="2A2F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1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264261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8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</a:t>
            </a:r>
            <a:r>
              <a:rPr lang="pl-PL" sz="1600" b="1" dirty="0" err="1">
                <a:solidFill>
                  <a:srgbClr val="E0A8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łó</a:t>
            </a:r>
            <a:r>
              <a:rPr lang="en-US" sz="1600" b="1" dirty="0" err="1">
                <a:solidFill>
                  <a:srgbClr val="E0A8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wna</a:t>
            </a:r>
            <a:r>
              <a:rPr lang="en-US" sz="1600" b="1" dirty="0">
                <a:solidFill>
                  <a:srgbClr val="E0A8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lekcja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06240" y="2624328"/>
            <a:ext cx="7223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ż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szy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wynik na zbiorze testowym nie zawsze oznacza lepszy system - trening i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detekcja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musz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ą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przetwarza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ć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obraz tak samo.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11064240" cy="1060704"/>
          </a:xfrm>
          <a:prstGeom prst="roundRect">
            <a:avLst>
              <a:gd name="adj" fmla="val 5172"/>
            </a:avLst>
          </a:prstGeom>
          <a:solidFill>
            <a:srgbClr val="1B1F29"/>
          </a:solidFill>
          <a:ln w="12700">
            <a:solidFill>
              <a:srgbClr val="2A2F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41648"/>
            <a:ext cx="457200" cy="457200"/>
          </a:xfrm>
          <a:prstGeom prst="ellipse">
            <a:avLst/>
          </a:prstGeom>
          <a:solidFill>
            <a:srgbClr val="5FB0E0"/>
          </a:solidFill>
          <a:ln w="12700">
            <a:solidFill>
              <a:srgbClr val="5FB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1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040" y="38496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0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Ograniczenia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06240" y="3831336"/>
            <a:ext cx="7223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</a:t>
            </a:r>
            <a:r>
              <a:rPr lang="pl-PL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óż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nica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dziedzin (GTSRB vs realne znaki), brak klasy "t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o" (fa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szywe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detekcje),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wra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ż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liwosc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maski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wyblak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 kolory.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11064240" cy="1060704"/>
          </a:xfrm>
          <a:prstGeom prst="roundRect">
            <a:avLst>
              <a:gd name="adj" fmla="val 5172"/>
            </a:avLst>
          </a:prstGeom>
          <a:solidFill>
            <a:srgbClr val="1B1F29"/>
          </a:solidFill>
          <a:ln w="12700">
            <a:solidFill>
              <a:srgbClr val="2A2F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248656"/>
            <a:ext cx="457200" cy="457200"/>
          </a:xfrm>
          <a:prstGeom prst="ellipse">
            <a:avLst/>
          </a:prstGeom>
          <a:solidFill>
            <a:srgbClr val="63C088"/>
          </a:solidFill>
          <a:ln w="12700">
            <a:solidFill>
              <a:srgbClr val="63C0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1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63040" y="50566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C0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Kierunki rozwoju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06240" y="5038344"/>
            <a:ext cx="7223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Klasa "t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o" z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przyk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adami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negatywnymi, augmentacja danych, t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umienie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nak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ł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adajacych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sie</a:t>
            </a:r>
            <a:r>
              <a:rPr lang="en-US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detekcj</a:t>
            </a:r>
            <a:r>
              <a:rPr lang="pl-PL" sz="1350" dirty="0">
                <a:solidFill>
                  <a:srgbClr val="E6E8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Dzi</a:t>
            </a:r>
            <a:r>
              <a:rPr lang="pl-PL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ę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kujemy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za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uwag</a:t>
            </a:r>
            <a:r>
              <a:rPr lang="pl-PL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ę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868680" y="3611880"/>
            <a:ext cx="2011680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700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Maciej Pere</a:t>
            </a:r>
            <a:r>
              <a:rPr lang="pl-PL" sz="1700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</a:t>
            </a:r>
            <a:r>
              <a:rPr lang="en-US" sz="1700" dirty="0" err="1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lucha</a:t>
            </a:r>
            <a:r>
              <a:rPr lang="en-US" sz="1700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177139      Mateusz Pokrywka  177143</a:t>
            </a:r>
            <a:endParaRPr lang="en-US" sz="17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Wizja komputerowa - detekcja i </a:t>
            </a:r>
            <a:r>
              <a:rPr lang="en-US" sz="1400" dirty="0" err="1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</a:t>
            </a:r>
            <a:r>
              <a:rPr lang="en-US" sz="14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znak</a:t>
            </a:r>
            <a:r>
              <a:rPr lang="pl-PL" sz="14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4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drogowych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1684</Words>
  <Application>Microsoft Office PowerPoint</Application>
  <PresentationFormat>Panoramiczny</PresentationFormat>
  <Paragraphs>292</Paragraphs>
  <Slides>18</Slides>
  <Notes>18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Times New Roman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Detekcja i klasyfikacja znakow drogowych</dc:title>
  <dc:subject>PptxGenJS Presentation</dc:subject>
  <dc:creator>Maciej Pereslucha, Mateusz Pokrywka</dc:creator>
  <cp:lastModifiedBy>Maciek</cp:lastModifiedBy>
  <cp:revision>13</cp:revision>
  <dcterms:created xsi:type="dcterms:W3CDTF">2026-06-18T10:08:03Z</dcterms:created>
  <dcterms:modified xsi:type="dcterms:W3CDTF">2026-06-18T11:32:21Z</dcterms:modified>
</cp:coreProperties>
</file>